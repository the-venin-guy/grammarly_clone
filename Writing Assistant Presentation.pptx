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9" r:id="rId5"/>
    <p:sldId id="270" r:id="rId6"/>
    <p:sldId id="280" r:id="rId7"/>
    <p:sldId id="271" r:id="rId8"/>
    <p:sldId id="264" r:id="rId9"/>
    <p:sldId id="272" r:id="rId10"/>
    <p:sldId id="262" r:id="rId11"/>
    <p:sldId id="282" r:id="rId12"/>
    <p:sldId id="27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12E81"/>
          </a:solidFill>
        </p:spPr>
      </p:sp>
      <p:sp>
        <p:nvSpPr>
          <p:cNvPr id="3" name="Shape 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312E81"/>
          </a:solidFill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312E81"/>
          </a:solidFill>
        </p:spPr>
      </p:sp>
      <p:sp>
        <p:nvSpPr>
          <p:cNvPr id="5" name="Shape 3"/>
          <p:cNvSpPr/>
          <p:nvPr/>
        </p:nvSpPr>
        <p:spPr>
          <a:xfrm>
            <a:off x="777240" y="960120"/>
            <a:ext cx="914400" cy="914400"/>
          </a:xfrm>
          <a:prstGeom prst="ellipse">
            <a:avLst/>
          </a:prstGeom>
          <a:solidFill>
            <a:srgbClr val="FB923C"/>
          </a:solidFill>
        </p:spPr>
      </p:sp>
      <p:pic>
        <p:nvPicPr>
          <p:cNvPr id="6" name="Image 0" descr="icons/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179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WRITING ASSISTANT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13232" y="34564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Gated, GPU-Accelerated Grammar &amp; Tone Checker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" y="3977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200" dirty="0">
                <a:solidFill>
                  <a:srgbClr val="C05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VARIANT  ·  DEEP LEARNING INTERNSHIP PROJECT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 Proposal  ·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6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Writing Assistant will help users do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291072" y="1600200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05472" y="1645920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6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pipeline behind the suggestions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3319272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&amp; Roadmap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planned and built it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91072" y="3273552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05472" y="3319272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cs typeface="Calibri" panose="020F0502020204030204" pitchFamily="34" charset="-120"/>
              </a:rPr>
              <a:t>The Full Feature Set</a:t>
            </a:r>
            <a:endParaRPr lang="en-US" sz="16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pipeline behind the suggestions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0080" y="4946904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4992624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Performance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planned and built it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91072" y="4946904"/>
            <a:ext cx="91440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5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05472" y="4992624"/>
            <a:ext cx="434340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Risks</a:t>
            </a:r>
            <a:endParaRPr lang="en-US" sz="1650" dirty="0"/>
          </a:p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Writing Assistant fits, and open questions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Assistant  ·  Concept Proposal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456432" cy="2240280"/>
          </a:xfrm>
          <a:prstGeom prst="roundRect">
            <a:avLst>
              <a:gd name="adj" fmla="val 3265"/>
            </a:avLst>
          </a:prstGeom>
          <a:solidFill>
            <a:srgbClr val="F1F1FB"/>
          </a:solidFill>
          <a:effectLst>
            <a:outerShdw blurRad="1270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691640"/>
            <a:ext cx="713232" cy="713232"/>
          </a:xfrm>
          <a:prstGeom prst="ellipse">
            <a:avLst/>
          </a:prstGeom>
          <a:solidFill>
            <a:srgbClr val="6366F1"/>
          </a:solidFill>
        </p:spPr>
      </p:sp>
      <p:pic>
        <p:nvPicPr>
          <p:cNvPr id="6" name="Image 0" descr="icons/spell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856" y="186281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Grammar &amp; Spelling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962656"/>
            <a:ext cx="29077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3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errors in real time, beyond simple dictionary checks.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481328"/>
            <a:ext cx="3456432" cy="2240280"/>
          </a:xfrm>
          <a:prstGeom prst="roundRect">
            <a:avLst>
              <a:gd name="adj" fmla="val 3265"/>
            </a:avLst>
          </a:prstGeom>
          <a:solidFill>
            <a:srgbClr val="F1F1FB"/>
          </a:solidFill>
          <a:effectLst>
            <a:outerShdw blurRad="1270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42432" y="1691640"/>
            <a:ext cx="713232" cy="713232"/>
          </a:xfrm>
          <a:prstGeom prst="ellipse">
            <a:avLst/>
          </a:prstGeom>
          <a:solidFill>
            <a:srgbClr val="6366F1"/>
          </a:solidFill>
        </p:spPr>
      </p:sp>
      <p:pic>
        <p:nvPicPr>
          <p:cNvPr id="11" name="Image 1" descr="icons/compre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608" y="1862816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962656"/>
            <a:ext cx="29077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3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 wordy or confusing phrasing and tightens it up.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481328"/>
            <a:ext cx="3456432" cy="2240280"/>
          </a:xfrm>
          <a:prstGeom prst="roundRect">
            <a:avLst>
              <a:gd name="adj" fmla="val 3265"/>
            </a:avLst>
          </a:prstGeom>
          <a:solidFill>
            <a:srgbClr val="F1F1FB"/>
          </a:solidFill>
          <a:effectLst>
            <a:outerShdw blurRad="1270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73184" y="1691640"/>
            <a:ext cx="713232" cy="713232"/>
          </a:xfrm>
          <a:prstGeom prst="ellipse">
            <a:avLst/>
          </a:prstGeom>
          <a:solidFill>
            <a:srgbClr val="6366F1"/>
          </a:solidFill>
        </p:spPr>
      </p:sp>
      <p:pic>
        <p:nvPicPr>
          <p:cNvPr id="16" name="Image 2" descr="icons/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360" y="1862816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560320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Tone &amp; Style Match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75904" y="2962656"/>
            <a:ext cx="29077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3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Adapts suggestions to formal, casual, or persuasive tone.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553970" y="3964178"/>
            <a:ext cx="3456432" cy="2240280"/>
          </a:xfrm>
          <a:prstGeom prst="roundRect">
            <a:avLst>
              <a:gd name="adj" fmla="val 3265"/>
            </a:avLst>
          </a:prstGeom>
          <a:solidFill>
            <a:srgbClr val="F1F1FB"/>
          </a:solidFill>
          <a:effectLst>
            <a:outerShdw blurRad="1270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925570" y="4174490"/>
            <a:ext cx="713232" cy="713232"/>
          </a:xfrm>
          <a:prstGeom prst="ellipse">
            <a:avLst/>
          </a:prstGeom>
          <a:solidFill>
            <a:srgbClr val="6366F1"/>
          </a:solidFill>
        </p:spPr>
      </p:sp>
      <p:pic>
        <p:nvPicPr>
          <p:cNvPr id="21" name="Image 3" descr="icons/magic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746" y="4345666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82570" y="5043170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Rewrites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828290" y="5445506"/>
            <a:ext cx="29077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3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Offers full sentence rewrites, not just word swaps.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88329" y="3950208"/>
            <a:ext cx="3456432" cy="2240280"/>
          </a:xfrm>
          <a:prstGeom prst="roundRect">
            <a:avLst>
              <a:gd name="adj" fmla="val 3265"/>
            </a:avLst>
          </a:prstGeom>
          <a:solidFill>
            <a:srgbClr val="F1F1FB"/>
          </a:solidFill>
          <a:effectLst>
            <a:outerShdw blurRad="127000" dist="38100" dir="5400000" algn="bl" rotWithShape="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59929" y="4160520"/>
            <a:ext cx="713232" cy="713232"/>
          </a:xfrm>
          <a:prstGeom prst="ellipse">
            <a:avLst/>
          </a:prstGeom>
          <a:solidFill>
            <a:srgbClr val="6366F1"/>
          </a:solidFill>
        </p:spPr>
      </p:sp>
      <p:pic>
        <p:nvPicPr>
          <p:cNvPr id="31" name="Image 5" descr="icons/langu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05" y="4331696"/>
            <a:ext cx="370881" cy="37088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16929" y="5029200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Formality Toggle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62649" y="5431536"/>
            <a:ext cx="29077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3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Extends grammar and style checks beyond English.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Assistant  ·  Concept Proposal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Pipeline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1783080"/>
            <a:ext cx="640080" cy="640080"/>
          </a:xfrm>
          <a:prstGeom prst="ellipse">
            <a:avLst/>
          </a:prstGeom>
          <a:solidFill>
            <a:srgbClr val="13203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442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spaCy Split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source of truth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sentence boundaries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63240" y="2514600"/>
            <a:ext cx="32004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5544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640080" cy="640080"/>
          </a:xfrm>
          <a:prstGeom prst="ellipse">
            <a:avLst/>
          </a:prstGeom>
          <a:solidFill>
            <a:srgbClr val="13203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642" y="195590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Hash &amp; Cache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2880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per sentence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unchanged → skip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06440" y="2514600"/>
            <a:ext cx="32004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5544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C0533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18020" y="1783080"/>
            <a:ext cx="640080" cy="640080"/>
          </a:xfrm>
          <a:prstGeom prst="ellipse">
            <a:avLst/>
          </a:prstGeom>
          <a:solidFill>
            <a:srgbClr val="9C3F2A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842" y="195590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GrammarRouter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880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LanguageTool first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only if errors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49640" y="2514600"/>
            <a:ext cx="32004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9680" y="1554480"/>
            <a:ext cx="2423160" cy="1920240"/>
          </a:xfrm>
          <a:prstGeom prst="roundRect">
            <a:avLst>
              <a:gd name="adj" fmla="val 3333"/>
            </a:avLst>
          </a:prstGeom>
          <a:solidFill>
            <a:srgbClr val="B8862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761220" y="1783080"/>
            <a:ext cx="640080" cy="640080"/>
          </a:xfrm>
          <a:prstGeom prst="ellipse">
            <a:avLst/>
          </a:prstGeom>
          <a:solidFill>
            <a:srgbClr val="966D20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042" y="195590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6112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ToneRouter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961120" y="2880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concurrent gates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(next slide)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0080" y="3931920"/>
            <a:ext cx="10881360" cy="1554480"/>
          </a:xfrm>
          <a:prstGeom prst="roundRect">
            <a:avLst>
              <a:gd name="adj" fmla="val 4118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1005840" y="411480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sentences in a document, and all three ToneRouter gates within a sentence, run concurrently via asyncio.gather — not sequentially.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005840" y="470916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a 3-sentence /analyze call dropped from ~30s to ~4–10s (warm state).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runs as a separate local server (port 11434), health-checked at FastAPI startup before requests are accepted.</a:t>
            </a:r>
            <a:endParaRPr lang="en-US" sz="1150" dirty="0"/>
          </a:p>
        </p:txBody>
      </p:sp>
      <p:sp>
        <p:nvSpPr>
          <p:cNvPr id="31" name="Text 0"/>
          <p:cNvSpPr/>
          <p:nvPr/>
        </p:nvSpPr>
        <p:spPr>
          <a:xfrm>
            <a:off x="731520" y="25557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UNDER THE HOOD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2971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ARCHITECTURE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50492" y="173736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500" y="1895368"/>
            <a:ext cx="269199" cy="269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Uvicorn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framework &amp; ASGI server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55848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6260" y="173736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268" y="1895368"/>
            <a:ext cx="269199" cy="2691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5576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65576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/ response schema validation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71616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2028" y="173736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036" y="1895368"/>
            <a:ext cx="269199" cy="2691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344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· phi3.5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181344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LLM runtime, 3.8B Q4 quant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787384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797796" y="173736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804" y="1895368"/>
            <a:ext cx="269199" cy="2691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97112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httpx (async)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897112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Concurrent calls to Ollama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40080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650492" y="393192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8500" y="4089928"/>
            <a:ext cx="269199" cy="2691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en_core_web_sm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49808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split + passive-voice parse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355848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66260" y="393192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268" y="4089928"/>
            <a:ext cx="269199" cy="2691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65576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LanguageTool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465576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grammar error detection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071616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082028" y="393192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0036" y="4089928"/>
            <a:ext cx="269199" cy="26919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181344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RoBERTa formality ranker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181344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s-nlp/roberta-base-formality-ranker, GPU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8787384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797796" y="3931920"/>
            <a:ext cx="585216" cy="585216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5804" y="4089928"/>
            <a:ext cx="269199" cy="26919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897112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textstat · pyspellchecker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8897112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Readability metrics &amp; word spellcheck</a:t>
            </a:r>
            <a:endParaRPr lang="en-US" sz="950" dirty="0"/>
          </a:p>
        </p:txBody>
      </p:sp>
      <p:sp>
        <p:nvSpPr>
          <p:cNvPr id="43" name="Text 0"/>
          <p:cNvSpPr/>
          <p:nvPr/>
        </p:nvSpPr>
        <p:spPr>
          <a:xfrm>
            <a:off x="740664" y="792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4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172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Writing Assistant Full Feature 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50492" y="173736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500" y="1895368"/>
            <a:ext cx="269199" cy="269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word/character count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JS, no backend call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55848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6260" y="173736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268" y="1895368"/>
            <a:ext cx="269199" cy="2691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5576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Debounced auto-analysis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65576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Sentence-boundary detection + 5s stale-fallback timer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71616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2028" y="173736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036" y="1895368"/>
            <a:ext cx="269199" cy="2691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344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Spacebar spellcheck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1344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pyspellchecker, wavy underline overlay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8787384" y="150876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797796" y="173736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804" y="1895368"/>
            <a:ext cx="269199" cy="2691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97112" y="242316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inline grammar marks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897112" y="292608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LanguageTool-only, ~400ms, no Ollama call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40080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650492" y="393192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8500" y="4089928"/>
            <a:ext cx="269199" cy="2691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Click-to-accept rewrites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49808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Undo-safe via execCommand, casing-aware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355848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66260" y="393192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268" y="4089928"/>
            <a:ext cx="269199" cy="2691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65576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Per-suggestion dismiss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65576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Hash-keyed, survives re-render until text changes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6071616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082028" y="393192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0036" y="4089928"/>
            <a:ext cx="269199" cy="26919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181344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Formality toggle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181344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re-render, no re-analysis needed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787384" y="370332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797796" y="3931920"/>
            <a:ext cx="585216" cy="585216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5804" y="4089928"/>
            <a:ext cx="269199" cy="26919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897112" y="4617720"/>
            <a:ext cx="23865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Analyze + Reset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8897112" y="5120640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override, always available</a:t>
            </a:r>
            <a:endParaRPr lang="en-US" sz="900" dirty="0"/>
          </a:p>
        </p:txBody>
      </p:sp>
      <p:sp>
        <p:nvSpPr>
          <p:cNvPr id="43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13</a:t>
            </a:r>
            <a:endParaRPr lang="en-US" sz="95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0333EA87-96C6-41AD-A95D-9C9CCA77AF26}"/>
              </a:ext>
            </a:extLst>
          </p:cNvPr>
          <p:cNvSpPr/>
          <p:nvPr/>
        </p:nvSpPr>
        <p:spPr>
          <a:xfrm>
            <a:off x="670560" y="357284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FEATURES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ToneRouter — Three Independent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run concurrently, on the original sentence text — not the grammar-corrected version (see Slide 8).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B8862B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B8862B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24" y="2157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Gate 1 — Formality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RoBERTa formality score &lt; 0.5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480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7548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rewrites the sentence formally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44607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92140" y="2011680"/>
            <a:ext cx="731520" cy="731520"/>
          </a:xfrm>
          <a:prstGeom prst="ellipse">
            <a:avLst/>
          </a:prstGeom>
          <a:solidFill>
            <a:srgbClr val="4460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1579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2926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Gate 2 — Passive Voice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26280" y="35204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17720" y="379476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detects nsubjpass dependency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26280" y="4480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17720" y="47548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rewrites in active voice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16916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6B5A7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395460" y="2011680"/>
            <a:ext cx="731520" cy="731520"/>
          </a:xfrm>
          <a:prstGeom prst="ellipse">
            <a:avLst/>
          </a:prstGeom>
          <a:solidFill>
            <a:srgbClr val="6B5A7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215798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0" y="2926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Gate 3 — Clarity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229600" y="35204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21040" y="379476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Flesch Reading Ease &lt; 50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29600" y="448056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321040" y="47548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simplifies the sentence</a:t>
            </a:r>
            <a:endParaRPr lang="en-US" sz="1200" dirty="0"/>
          </a:p>
        </p:txBody>
      </p:sp>
      <p:sp>
        <p:nvSpPr>
          <p:cNvPr id="28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Engineering — Examples Beat Instructions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 instructions (“preserve meaning”) failed twice. A concrete one-shot example fixed both, reliably.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Case 1: Pronoun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"...because of my fatigue..." → "...because of his fatigue..." (referent swapped)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 fix attempt (“don’t change who did what”): no change in behavior.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One-shot example added to the prompt: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"Original: Because of my tiredness, the cake was eaten by him.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Rewritten: He ate the cake because of my tiredness."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5015484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892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— pronoun preserved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6916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Case 2: Typo-Induced Rephrasing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0" y="24688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"...to be honst." → "...that I need to be honest about." (idiom reinterpreted)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83680" y="31089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test (correctly spelled) produced the right minimal fix — confirmed the typo itself caused the misread.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83680" y="37490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One-shot example added to the prompt: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83680" y="40690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"Original: I am so tired, to be hnest.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Corrected: I am so tired, to be honest."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4892040"/>
            <a:ext cx="457200" cy="45720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501548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78040" y="4892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— minimal, correct edit</a:t>
            </a:r>
            <a:endParaRPr lang="en-US" sz="1200" dirty="0"/>
          </a:p>
        </p:txBody>
      </p:sp>
      <p:sp>
        <p:nvSpPr>
          <p:cNvPr id="22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Performance: Concurrency &amp; GPU Tuning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34540" y="1783080"/>
            <a:ext cx="640080" cy="640080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362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30s → 4–10s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3-sentence /analyze call, sequential vs. concurrent asyncio.gather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37860" y="1783080"/>
            <a:ext cx="640080" cy="64008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682" y="195590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6517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4922 → 4323 MiB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17720" y="342900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VRAM after fixing --reload duplicate model loading (two processes → one)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14630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41180" y="1783080"/>
            <a:ext cx="640080" cy="640080"/>
          </a:xfrm>
          <a:prstGeom prst="ellipse">
            <a:avLst/>
          </a:prstGeom>
          <a:solidFill>
            <a:srgbClr val="44607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002" y="195590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26517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3.8 → 5.6 GB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21040" y="342900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 attention caused a CPU/GPU split and model bloat — reverted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also warms up via a throwaway request inside start.bat, so the first real user request isn't the one paying the cold-start cost.</a:t>
            </a:r>
            <a:endParaRPr lang="en-US" sz="1250" dirty="0"/>
          </a:p>
        </p:txBody>
      </p:sp>
      <p:sp>
        <p:nvSpPr>
          <p:cNvPr id="19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13</a:t>
            </a:r>
            <a:endParaRPr lang="en-US" sz="95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53D39344-6B1A-417A-8025-18D2B9AA7A3D}"/>
              </a:ext>
            </a:extLst>
          </p:cNvPr>
          <p:cNvSpPr/>
          <p:nvPr/>
        </p:nvSpPr>
        <p:spPr>
          <a:xfrm>
            <a:off x="640080" y="354757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Benchmark Performance ≠ Task Reliability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phi4-mini scored higher on general instruction-following (IFEval: 70.1 vs. 50.6) — at identical size and VRAM cost.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phi3.5 (kept)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Test: "Because of my fatigue, the trophy was lifted by the captain while I watched."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(after a one-shot prompt fix):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"...lifted the trophy because of my fatigue, and I watched from the sidelines."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2C5F2D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88" y="4662068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5994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Pronoun reference preserved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phi4-mini (rejected)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83680" y="2468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test sentence, same prompt: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9718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"...raised the trophy due to his team’s victory as he stood on stage; meanwhile, she merely observed..."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4526280"/>
            <a:ext cx="502920" cy="502920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68" y="4662068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45262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Fabricated content — reproduced on 2 separate runs</a:t>
            </a:r>
            <a:endParaRPr lang="en-US" sz="1200" dirty="0"/>
          </a:p>
        </p:txBody>
      </p:sp>
      <p:sp>
        <p:nvSpPr>
          <p:cNvPr id="18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Classify Cheaply. Generate Expensively—Only When Needed.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project's core architectural insight: a lightweight classifier or rule-based check decides whether a sentence needs the LLM at all. Ollama is invoked only when a gate actually fires — never on every sentence by default.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EEF1F5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640080" cy="64008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28245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Milliseconds. No GPU contention. Used for: LanguageTool grammar check, RoBERTa formality score, spaCy passive-voice parse.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8920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3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~0.01–0.1s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400800" y="22860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2651760"/>
            <a:ext cx="640080" cy="640080"/>
          </a:xfrm>
          <a:prstGeom prst="ellipse">
            <a:avLst/>
          </a:prstGeom>
          <a:solidFill>
            <a:srgbClr val="C0533A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662" y="282458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6974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LLM (Ollama / phi3.5)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20840" y="347472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Invoked only when a gate fires: grammar errors found, low formality score, passive voice detected, or poor document readability.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20840" y="48920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~3–10s / call</a:t>
            </a:r>
            <a:endParaRPr lang="en-US" sz="2600" dirty="0"/>
          </a:p>
        </p:txBody>
      </p:sp>
      <p:sp>
        <p:nvSpPr>
          <p:cNvPr id="16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 Limitations — By Evidence, Not By Accident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20040" cy="320040"/>
          </a:xfrm>
          <a:prstGeom prst="ellipse">
            <a:avLst/>
          </a:prstGeom>
          <a:solidFill>
            <a:srgbClr val="C0533A"/>
          </a:solidFill>
        </p:spPr>
      </p:sp>
      <p:sp>
        <p:nvSpPr>
          <p:cNvPr id="4" name="Text 2"/>
          <p:cNvSpPr/>
          <p:nvPr/>
        </p:nvSpPr>
        <p:spPr>
          <a:xfrm>
            <a:off x="731520" y="1417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Gated architecture trade-off: a LanguageTool false negative never reaches the LLM — the gate simply doesn't open (e.g. missing-determiner errors, single-letter typos like “o” for “of”).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C0533A"/>
          </a:solidFill>
        </p:spPr>
      </p:sp>
      <p:sp>
        <p:nvSpPr>
          <p:cNvPr id="7" name="Text 5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6060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Formality ranker has a ceiling effect: any grammatically complete, slang-free sentence scores near-formal, even plain factual statements.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320040" cy="320040"/>
          </a:xfrm>
          <a:prstGeom prst="ellipse">
            <a:avLst/>
          </a:prstGeom>
          <a:solidFill>
            <a:srgbClr val="C0533A"/>
          </a:solidFill>
        </p:spPr>
      </p:sp>
      <p:sp>
        <p:nvSpPr>
          <p:cNvPr id="10" name="Text 8"/>
          <p:cNvSpPr/>
          <p:nvPr/>
        </p:nvSpPr>
        <p:spPr>
          <a:xfrm>
            <a:off x="731520" y="37947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en_core_web_sm passive-voice detection is reliable on simple constructions, less so on complex/nested sentences — a known small-model limitation.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83480"/>
            <a:ext cx="320040" cy="320040"/>
          </a:xfrm>
          <a:prstGeom prst="ellipse">
            <a:avLst/>
          </a:prstGeom>
          <a:solidFill>
            <a:srgbClr val="C0533A"/>
          </a:solidFill>
        </p:spPr>
      </p:sp>
      <p:sp>
        <p:nvSpPr>
          <p:cNvPr id="13" name="Text 11"/>
          <p:cNvSpPr/>
          <p:nvPr/>
        </p:nvSpPr>
        <p:spPr>
          <a:xfrm>
            <a:off x="731520" y="49834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93776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LanguageTool can suppress a co-occurring grammar error when a nearby typo disrupts its tokenizer.</a:t>
            </a:r>
            <a:endParaRPr lang="en-US" sz="1400" dirty="0"/>
          </a:p>
        </p:txBody>
      </p:sp>
      <p:sp>
        <p:nvSpPr>
          <p:cNvPr id="15" name="Text 27"/>
          <p:cNvSpPr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9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5155C513-0EAB-446B-9C55-C0E967E3B4CF}"/>
              </a:ext>
            </a:extLst>
          </p:cNvPr>
          <p:cNvSpPr/>
          <p:nvPr/>
        </p:nvSpPr>
        <p:spPr>
          <a:xfrm>
            <a:off x="640080" y="3069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9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CAPABILITIES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754880" cy="4754880"/>
          </a:xfrm>
          <a:prstGeom prst="ellipse">
            <a:avLst/>
          </a:prstGeom>
          <a:solidFill>
            <a:srgbClr val="312E81"/>
          </a:solidFill>
        </p:spPr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312E81"/>
          </a:solidFill>
        </p:spPr>
      </p:sp>
      <p:sp>
        <p:nvSpPr>
          <p:cNvPr id="4" name="Shape 2"/>
          <p:cNvSpPr/>
          <p:nvPr/>
        </p:nvSpPr>
        <p:spPr>
          <a:xfrm>
            <a:off x="5637276" y="1325880"/>
            <a:ext cx="914400" cy="914400"/>
          </a:xfrm>
          <a:prstGeom prst="ellipse">
            <a:avLst/>
          </a:prstGeom>
          <a:solidFill>
            <a:srgbClr val="FB923C"/>
          </a:solidFill>
        </p:spPr>
      </p:sp>
      <p:pic>
        <p:nvPicPr>
          <p:cNvPr id="5" name="Image 0" descr="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15453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743200"/>
            <a:ext cx="9628632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Making confident writing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accessible to everyone.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280160" y="4251960"/>
            <a:ext cx="9628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6126480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Assistant  ·  Concept Proposal  ·  Course Project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1171</Words>
  <Application>Microsoft Office PowerPoint</Application>
  <PresentationFormat>Widescreen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WriteAI — AI-Powered Writing Assistant</dc:title>
  <dc:subject>PptxGenJS Presentation</dc:subject>
  <dc:creator>WriteAI Project Team</dc:creator>
  <cp:lastModifiedBy>David</cp:lastModifiedBy>
  <cp:revision>5</cp:revision>
  <dcterms:created xsi:type="dcterms:W3CDTF">2026-06-16T21:27:00Z</dcterms:created>
  <dcterms:modified xsi:type="dcterms:W3CDTF">2026-06-22T10:32:19Z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0159B7B235A34FA0858906A7CE63E00B_13</vt:lpwstr>
  </property>
</Properties>
</file>